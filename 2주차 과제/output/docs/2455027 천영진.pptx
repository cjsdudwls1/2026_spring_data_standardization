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B4D8"/>
                </a:solidFill>
                <a:latin typeface="맑은 고딕"/>
              </a:defRPr>
            </a:pPr>
            <a:r>
              <a:t>혈액 기부 서비스 센터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탐색적 데이터 분석 (EDA) 보고서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맑은 고딕"/>
              </a:defRPr>
            </a:pPr>
            <a:r>
              <a:t>Statistics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데이터셋: OpenML - blood-transfusion-service-center (ID: 1464)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2026-03-22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서론 — 분석 배경 및 목적, 데이터셋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데이터 프로파일링 — 명세 확인, 결측치, 기초 통계량, 정제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단변량 분석 — 정규성 검정, 히스토그램/KDE, 클래스 분포, Binning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39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003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다변량 분석 — 상관관계, 다중공선성(VIF), 산점도, 세그먼트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핵심 인사이트 — 주요 패턴, 가설 검증, 예상 밖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결론 — 분석 요약, 비즈니스 제언, 한계점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B4D8"/>
                </a:solidFill>
                <a:latin typeface="맑은 고딕"/>
              </a:defRPr>
            </a:pPr>
            <a:r>
              <a:t>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부록 — 변환 비교, 이상치 탐지, 스케일링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서론 — 분석 배경 및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맑은 고딕"/>
              </a:defRPr>
            </a:pPr>
            <a:r>
              <a:t>분석 목적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• 대만 신주시 헌혈 센터의 헌혈자 데이터 기반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• 다음 헌혈 캠페인 시 실제로 헌혈할 가능성이 높은 헌혈자 식별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• RFMTC 모델에 기반한 헌혈 행동 데이터 다각도 분석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• 효율적인 헌혈자 관리 및 마케팅 전략 수립에 기여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1600"/>
              </a:spcBef>
              <a:defRPr sz="2200" b="1">
                <a:solidFill>
                  <a:srgbClr val="FFD600"/>
                </a:solidFill>
                <a:latin typeface="맑은 고딕"/>
              </a:defRPr>
            </a:pPr>
            <a:r>
              <a:t>주요 분석 질문 (Hypotheses)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H1  최근에 헌혈한 사람(V1 낮음)이 다음에도 헌혈할 확률이 높을 것이다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H2  헌혈 빈도(V2)가 높은 사람이 다시 헌혈할 가능성이 높을 것이다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H3  V3(Monetary) = V2(Frequency) × 250 완전 선형 관계일 것이다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서론 — 데이터셋 설명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출처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OpenML (ID: 1464), UCI ML Repository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수집 주체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대만 신주시 헌혈 센터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원본 행 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748건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분석 행 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533건 (중복 215건 제거 후)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열 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5개 (특성 4 + 타겟 1)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0972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 (Recency)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마지막 헌혈 이후 경과 개월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값 작을수록 최근 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 (Frequency)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총 헌혈 횟수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헌혈 빈도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 (Monetary)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총 헌혈량 (c.c.)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 × 250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V4 (Time)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첫 헌혈 이후 경과 개월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헌혈 이력 기간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2007.3 헌혈 여부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1=미헌혈, 2=헌혈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맑은 고딕"/>
              </a:defRPr>
            </a:pPr>
            <a:r>
              <a:t>핵심 포인트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원본 Class 인코딩: 1(미헌혈 76.2%) / 2(헌혈 23.8%)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전체 수치형(int64), 결측치 0건 → 데이터 품질 양호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4가지 방법(openml, fetch_openml, StringIO, requests)으로 동일 결과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데이터 프로파일링 — 기초 통계량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통계량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V1 (Recency)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V2 (Frequency)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V3 (Monetary)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V4 (Time)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평균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9.529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6.991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1747.65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42.304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중앙값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1250.00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38.000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최빈값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Q1 / Q3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 / 14.0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 / 9.0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750 / 2250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26.0 / 58.0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IQR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11.000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1500.00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32.000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분산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68.077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39.261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2,453,824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542.671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표준편차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8.251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6.266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1566.47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23.295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왜도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2.265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0.564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첨도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12.397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13.746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13.746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-0.489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• 평균 &gt; 중앙값 &gt; 최빈값 → V1~V3 양의 왜도  |  결측치 0건  |  중복 215건(28.7%) 제거 후 533건 기준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단변량 분석 — 정규성 검정 (Shapiro-Wilk)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왜도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첨도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Shapiro W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2.265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강한 양의 왜도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12.397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극도 뾰족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0.8026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비정규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강한 양의 왜도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13.746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극도 뾰족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0.7236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비정규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강한 양의 왜도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13.746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극도 뾰족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0.7236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비정규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0.564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중간 양의 왜도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-0.489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정규 유사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0.9559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비정규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맑은 고딕"/>
              </a:defRPr>
            </a:pPr>
            <a:r>
              <a:t>핵심 결론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• 4개 변수 모두 p &lt; 0.05 → 정규분포를 따르지 않음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• 비모수적 방법(Spearman 상관계수 등) 사용 필요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• V1~V3의 첨도 12~14 → 극도로 뾰족하여 이상치 다수 존재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0A0A0"/>
                </a:solidFill>
                <a:latin typeface="맑은 고딕"/>
              </a:defRPr>
            </a:pPr>
            <a:r>
              <a:t>• pandas .kurtosis()는 초과 첨도(excess kurtosis) 반환 (정규분포 기준값 = 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단변량 분석 — 히스토그램 &amp; KDE / 박스플롯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histogram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4100196"/>
          </a:xfrm>
          <a:prstGeom prst="rect">
            <a:avLst/>
          </a:prstGeom>
        </p:spPr>
      </p:pic>
      <p:pic>
        <p:nvPicPr>
          <p:cNvPr id="6" name="Picture 5" descr="02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17440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녹색=평균 | 주황=중앙값 | 파랑=최빈값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V2, V3: 극도의 오른쪽 꼬리 → 소수 고빈도 헌혈자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단변량 분석 — 클래스 분포 &amp; Binning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404594"/>
          </a:xfrm>
          <a:prstGeom prst="rect">
            <a:avLst/>
          </a:prstGeom>
        </p:spPr>
      </p:pic>
      <p:pic>
        <p:nvPicPr>
          <p:cNvPr id="6" name="Picture 5" descr="04_bi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5943600" cy="209422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93776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레이블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빈도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미헌혈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72.0%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49377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• 클래스 불균형: 72% vs 28%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5% 기준 희소 클래스는 없음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ML 시 SMOTE 등 오버샘플링 권장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다변량 분석 — 상관관계 히트맵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pear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303520" cy="3931920"/>
          </a:xfrm>
          <a:prstGeom prst="rect">
            <a:avLst/>
          </a:prstGeom>
        </p:spPr>
      </p:pic>
      <p:pic>
        <p:nvPicPr>
          <p:cNvPr id="6" name="Picture 5" descr="08_spearma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• V2-V3: Pearson/Spearman 모두 1.000 → 완벽한 다중공선성 (V3 제거 필수)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• V1-Class: Spearman -0.298 → 최근성이 재헌혈의 가장 강력한 예측자  |  비정규 분포 → Spearman이 더 신뢰적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다변량 분석 — 다중공선성 (VIF) &amp; 공분산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2.20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∞ (inf)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완벽한 다중공선성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∞ (inf)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완벽한 다중공선성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5.55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경계 수준 (기준 10 미달)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9_covari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5943600" cy="5340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맑은 고딕"/>
              </a:defRPr>
            </a:pPr>
            <a:r>
              <a:t>다중공선성 분석 결론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FF4D6D"/>
                </a:solidFill>
                <a:latin typeface="맑은 고딕"/>
              </a:defRPr>
            </a:pPr>
            <a:r>
              <a:t>• V2-V3: VIF = ∞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→ V3 = V2 × 250 동일 정보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→ 모델링 시 V3 반드시 제거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• V4: VIF = 5.55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→ 기준(10) 미달이나 주시 필요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00C9A7"/>
                </a:solidFill>
                <a:latin typeface="맑은 고딕"/>
              </a:defRPr>
            </a:pPr>
            <a:r>
              <a:t>• V1: VIF = 2.20 → 문제없음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다변량 분석 — 산점도 &amp; Pair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c_scatter_tren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303520" cy="3931920"/>
          </a:xfrm>
          <a:prstGeom prst="rect">
            <a:avLst/>
          </a:prstGeom>
        </p:spPr>
      </p:pic>
      <p:pic>
        <p:nvPicPr>
          <p:cNvPr id="6" name="Picture 5" descr="10_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• V2-V3: 완벽 직선 (기울기=250, R²=1.000)  |  R²&lt;0.1인 쌍: 회색 점선(약한 관계)  |  V1-Class: 음의 추세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다변량 분석 — Class별 분포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cla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315200" cy="3640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맑은 고딕"/>
              </a:defRPr>
            </a:pPr>
            <a:r>
              <a:t>Class별 주요 차이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V1 (Recency)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Class 2(헌혈)의 중앙값이 확연히 낮음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→ 최근 헌혈자가 재헌혈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V2 (Frequency)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Class 2의 중앙값이 높음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→ 고빈도 헌혈자가 재헌혈 경향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V4 (Time)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두 Class 간 차이 미미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8C00"/>
                </a:solidFill>
                <a:latin typeface="맑은 고딕"/>
              </a:defRPr>
            </a:pPr>
            <a:r>
              <a:t>→ 이력 기간은 예측력 약함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다변량 분석 — VIP vs 일반 세그먼트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b_seg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858000" cy="197365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28016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세그먼트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V1 평균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V2 평균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V4 평균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VIP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 &gt; 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257명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7.650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11.101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53.284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General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 ≤ 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276명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11.279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3.163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32.080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2743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맑은 고딕"/>
              </a:defRPr>
            </a:pPr>
            <a:r>
              <a:t>시사점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00C9A7"/>
                </a:solidFill>
                <a:latin typeface="맑은 고딕"/>
              </a:defRPr>
            </a:pPr>
            <a:r>
              <a:t>• VIP: V1 평균 7.65개월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  (General 11.28 대비 낮음)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  → 재헌혈 경향 높음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• General: 비교적 최근 유입된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  저빈도 헌혈자 (V4 짧음)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• VIP 세그먼트 집중 캠페인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00B4D8"/>
                </a:solidFill>
                <a:latin typeface="맑은 고딕"/>
              </a:defRPr>
            </a:pPr>
            <a:r>
              <a:t>  → 효율 극대화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핵심 인사이트 — 주요 패턴 발견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극도의 양의 왜도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V1~V3 모두 강한 양의 왜도(2.3~3.0)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소수 고빈도 헌혈자가 분포 왜곡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D"/>
                </a:solidFill>
                <a:latin typeface="맑은 고딕"/>
              </a:defRPr>
            </a:pPr>
            <a: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V2-V3 완벽 상관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Pearson/Spearman 모두 1.000, VIF = 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동일 정보 → V3 제거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맑은 고딕"/>
              </a:defRPr>
            </a:pPr>
            <a: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V1이 가장 강력한 예측자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Class와 Spearman -0.298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비정규 분포 고려 시 Spearman 기준 신뢰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맑은 고딕"/>
              </a:defRPr>
            </a:pPr>
            <a: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클래스 불균형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헌혈 28.0% vs 미헌혈 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ML 시 오버샘플링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맑은 고딕"/>
              </a:defRPr>
            </a:pPr>
            <a: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V4의 낮은 예측력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Class와 Spearman -0.142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오랜 이력 ≠ 재헌혈 보장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핵심 인사이트 — 가설 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가설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H1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최근 헌혈자가 재헌혈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채택 ✓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V1-Class Spearman -0.298, Box Plot 확인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고빈도 헌혈자가 재헌혈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채택 ✓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V2-Class Pearson 0.175, VIP V1 평균 7.65 &lt; General 11.28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H3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 = V2 × 250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채택 ✓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Pearson/Spearman 1.000, 산점도 완벽 직선, VIF = ∞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맑은 고딕"/>
              </a:defRPr>
            </a:pPr>
            <a:r>
              <a:t>예상치 못한 발견 (Unexpected Findings)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1. 중복 데이터 28.7%  — 748건 중 215건이 완전 동일 RFMTC 패턴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0A0A0"/>
                </a:solidFill>
                <a:latin typeface="맑은 고딕"/>
              </a:defRPr>
            </a:pPr>
            <a:r>
              <a:t>   → 동일 행동 양식의 헌혈자가 다수 존재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2. Modified Z-score vs Z-score 큰 괴리  — V2에서 Z 9개 vs MAD 39개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0A0A0"/>
                </a:solidFill>
                <a:latin typeface="맑은 고딕"/>
              </a:defRPr>
            </a:pPr>
            <a:r>
              <a:t>   → 비정규 분포에서 Z-score가 이상치 과소 탐지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3. VIP의 역설  — VIP(V2&gt;5)의 V4 평균 53.3개월 &gt; General 32.1개월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0A0A0"/>
                </a:solidFill>
                <a:latin typeface="맑은 고딕"/>
              </a:defRPr>
            </a:pPr>
            <a:r>
              <a:t>   → 오래 헌혈 = 고빈도 (자명), 그러나 V4 자체는 Class 예측에 약함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결론 — 분석 요약 &amp; 비즈니스 제언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맑은 고딕"/>
              </a:defRPr>
            </a:pPr>
            <a:r>
              <a:t>분석 요약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맑은 고딕"/>
              </a:defRPr>
            </a:pPr>
            <a:r>
              <a:t>• 533건 대상, 35개 기술통계기법 EDA 수행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맑은 고딕"/>
              </a:defRPr>
            </a:pPr>
            <a:r>
              <a:t>• 결측치 0건, 양호한 데이터 품질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맑은 고딕"/>
              </a:defRPr>
            </a:pPr>
            <a:r>
              <a:t>• 극도의 양의 왜도 (V1~V3)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맑은 고딕"/>
              </a:defRPr>
            </a:pPr>
            <a:r>
              <a:t>• 클래스 불균형 (72:28)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맑은 고딕"/>
              </a:defRPr>
            </a:pPr>
            <a:r>
              <a:t>• V2-V3 완전 다중공선성 (VIF = ∞)</a:t>
            </a: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• V1(Recency)이 가장 유의미한 예측 변수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A0A0A0"/>
                </a:solidFill>
                <a:latin typeface="맑은 고딕"/>
              </a:defRPr>
            </a:pPr>
            <a:r>
              <a:t>  (Spearman -0.298)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맑은 고딕"/>
              </a:defRPr>
            </a:pPr>
            <a:r>
              <a:t>비즈니스 제언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1. 타겟 마케팅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 V1↓ V2↑ VIP 세그먼트(257명) 집중 캠페인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2. 변수 선택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 V3 제거 → V1, V2, V4 3개 변수 모델링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3. 변환 적용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 박스-콕스: V1 왜도 2.265→-0.013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4. 불균형 처리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 SMOTE 오버샘플링으로 Class 균형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E0E0E0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5. 모델 추천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   트리 기반 (Random Forest, XGBoost)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결론 — 한계점 및 추후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변수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4개(실질 3개) 변수만으로는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예측 정확도 한계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시계열 미반영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헌혈 패턴의 시간적 추이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분석 부재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71600"/>
            <a:ext cx="265176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외부 변수 부재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연령, 성별, 건강 상태 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미포함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371600"/>
            <a:ext cx="265176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이상치 처리 미수행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탐지만 하고 제거/변환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하지 않음 (EDA 목적상 원본 유지)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맑은 고딕"/>
              </a:defRPr>
            </a:pPr>
            <a:r>
              <a:t>향후 방향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추가 변수 수집  +  앙상블 모델링  +  머신러닝 도입으로 예측 고도화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맑은 고딕"/>
              </a:defRPr>
            </a:pPr>
            <a:r>
              <a:t>부록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— 왜곡 변수 전처리 (변환 비교)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777240"/>
            <a:ext cx="2286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transform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943600" cy="475368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1887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71"/>
                <a:gridCol w="783771"/>
                <a:gridCol w="783771"/>
                <a:gridCol w="783771"/>
                <a:gridCol w="783771"/>
                <a:gridCol w="783771"/>
                <a:gridCol w="783774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원본 왜도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로그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루트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박스-콕스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Yeo-Johnson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최적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2.265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-0.076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박스-콕스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0.405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1.301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박스-콕스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3.041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0.084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1.301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박스-콕스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0.564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-0.972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-0.059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-0.048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Yeo-Johnson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5b_yeojohn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486400" cy="12023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맑은 고딕"/>
              </a:defRPr>
            </a:pPr>
            <a:r>
              <a:t>부록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— 이상치 탐지 &amp; 스케일링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777240"/>
            <a:ext cx="2286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943600" cy="18316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Z-score (|Z|&gt;3)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Modified Z (|M|&gt;3.5)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IQR 방식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9개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39개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21개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9개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39개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21개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1B2F"/>
                          </a:solidFill>
                          <a:latin typeface="맑은 고딕"/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12_sca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029200" cy="3081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맑은 고딕"/>
              </a:defRPr>
            </a:pPr>
            <a:r>
              <a:t>비정규 분포 → MAD 기반 Modified Z-score가 더 강건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맑은 고딕"/>
              </a:defRPr>
            </a:pPr>
            <a:r>
              <a:t>부록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— 추가 시각화 (CDF &amp; Class 프로파일)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777240"/>
            <a:ext cx="2286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cdf_line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760720" cy="1258681"/>
          </a:xfrm>
          <a:prstGeom prst="rect">
            <a:avLst/>
          </a:prstGeom>
        </p:spPr>
      </p:pic>
      <p:pic>
        <p:nvPicPr>
          <p:cNvPr id="6" name="Picture 5" descr="14_class_profile_line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3386297"/>
          </a:xfrm>
          <a:prstGeom prst="rect">
            <a:avLst/>
          </a:prstGeom>
        </p:spPr>
      </p:pic>
      <p:pic>
        <p:nvPicPr>
          <p:cNvPr id="7" name="Picture 6" descr="10b_violin_over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572000"/>
            <a:ext cx="7315200" cy="22503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108960"/>
            <a:ext cx="3017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혈액 기부 서비스 센터 데이터 탐색적 분석 (EDA)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